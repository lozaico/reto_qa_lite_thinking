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8" r:id="rId10"/>
    <p:sldId id="264" r:id="rId11"/>
    <p:sldId id="265" r:id="rId12"/>
    <p:sldId id="266" r:id="rId13"/>
    <p:sldId id="268" r:id="rId14"/>
    <p:sldId id="269" r:id="rId15"/>
    <p:sldId id="29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6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9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34E"/>
    <a:srgbClr val="F9E9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32664-B469-41DD-91F9-B7823AD08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0D8C18-3F1B-49A0-9EBF-3543D4A33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F57998-DBC2-40DF-8C18-51488BB03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E0F84-D566-43FD-84DD-A13EAFF5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5D82AB-0185-448D-936B-8F756F27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554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F065E-DF11-4FFC-BDF0-9211FCAC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AF40D6-C63E-4708-962F-F423CE666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D7A431-1716-4CD3-97E8-75789CE3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34D86-5FBD-4991-A03B-6DF8839F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B214D-8C13-4277-B664-3182693B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131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D6E59-E88B-4B34-98FE-4DE5170B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D4F10D-8EB9-4A8B-A8A5-D3A4AE74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5BFF8E-20E6-4B80-8925-EFB224FA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D0E28-DB96-4D4F-9939-5464F321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4D2F75-B0BC-4E6F-BD23-BFF8912B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33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0DB54-2BFD-4901-B685-A86ABF14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40B6FD-11BB-425A-8710-B30F51C51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083621-E6B1-4950-B994-7C0365172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3F05B-EECD-47F5-8C34-F556F477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ADD0EC-68A5-4F1A-AA59-71C699F1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DEF487-87EA-4500-B722-93F57CC7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338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79EED-EC31-4DAC-B987-FC0499AD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9FC731-B599-4E8C-890F-2DA55B51D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B3CAE1-C9C3-4FFD-854E-0C83D0F88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35C0A3-0F54-4274-8967-C5E090DBC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5C614D-5852-4061-880C-BDEB7FF94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BE3094-9027-4A64-B389-E0858060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FFEABB-039C-458D-97F4-3DC4CDDC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5B7A90-CEF7-494E-A107-11FD5F4A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146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5D0F1-E35D-4020-894E-60DB92BE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D97AB3-1838-4C09-9B9D-CB81EF9F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8EF9A6-7D7E-4842-A892-BD3FA80E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BF764-2C85-450D-A18B-9C7A0AF9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61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CDCB38-1EC0-469C-8464-A9231440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053DDE-1C42-4B12-A3BB-1D3C9004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56A939-FF25-4664-B434-1E245BDA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190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7119D-07AF-40B0-AD23-E604E1D7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AC9B5-DF6B-4076-AA4D-886E86ECA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F03A92-72EC-4A22-9294-9C6C42D06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7C6E1E-D60B-4810-BE0B-3435249F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53DF5B-A2CB-4B5C-9623-A5634DE2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E56B89-7F28-43BA-B45C-01A6EC9F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144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33B64-C166-4E6A-886B-37DE4D047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45FDC9-340E-48E2-8A9E-1E7D8DFA2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8A1544-3FCF-457C-BB1E-AAFD50FE6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4DB9A9-2833-4DAD-8D32-FC26CEAA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48D5BC-6304-449C-AE49-16C299D9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755D32-5092-455C-B9AC-5D59C3D7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94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F016E-4457-49BC-A6C5-4D69503F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281A5E-A27E-42F4-A3EE-2EB5A1487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98A0E9-8ABC-4706-BA4F-8C28E904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1F725-A1E8-42EE-8867-ED8415CA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B7E903-FE15-473C-89DF-62C69EA5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88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B312FF-E9FF-46DA-9C85-C1B86897A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ACD92F-4B6B-48BC-A941-BDEA6A393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004CBD-C558-4CEF-83A1-8AF23DDB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767449-0B29-4843-BFF0-05AB83A5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DFAF5A-BD37-42A0-B4E4-3FD16D50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084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4E13D9-1910-4556-AEB3-2C1F12E9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EE8080-880B-479D-A1A5-29BCA074E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A1DA36-4C17-4A6B-8826-90A292F5C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4C096-1623-4170-9D8B-8F4D749F8566}" type="datetimeFigureOut">
              <a:rPr lang="es-CO" smtClean="0"/>
              <a:t>20/11/2025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D669D8-0E89-405D-8177-490B6F808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164696-E5C1-4101-936D-254E41933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9EF2C-AD57-491A-8B46-DBC7F5FE1B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00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811" y="4489277"/>
            <a:ext cx="3390378" cy="188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ED80ECC-9DC0-41CE-85EF-450173B0B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3721" y="3209295"/>
            <a:ext cx="1215994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📅 20/11/2025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8361" y="1929313"/>
            <a:ext cx="646651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👤 Sergio Luis Guevara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22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913" y="1570967"/>
            <a:ext cx="863217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1: PRUEBAS MANUALES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4" y="2803137"/>
            <a:ext cx="4849984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Objetivo: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Demostrar habilidades en testing manual mediante el diseño de casos de prueba (mínimo 5)</a:t>
            </a:r>
            <a:endParaRPr kumimoji="0" lang="es-CO" altLang="es-CO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/>
          <p:nvPr/>
        </p:nvCxnSpPr>
        <p:spPr>
          <a:xfrm>
            <a:off x="5972907" y="2803137"/>
            <a:ext cx="0" cy="276998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11" y="3207494"/>
            <a:ext cx="443718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Alcance</a:t>
            </a:r>
            <a:r>
              <a:rPr lang="es-CO" altLang="es-CO" sz="3600" dirty="0">
                <a:solidFill>
                  <a:srgbClr val="F9FAFB"/>
                </a:solidFill>
                <a:latin typeface="Bahnschrift" panose="020B0502040204020203" pitchFamily="34" charset="0"/>
              </a:rPr>
              <a:t>: 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6 casos de prueba manuales </a:t>
            </a:r>
            <a:r>
              <a:rPr lang="es-CO" altLang="es-CO" sz="3600" dirty="0">
                <a:solidFill>
                  <a:srgbClr val="E3EAF2"/>
                </a:solidFill>
                <a:latin typeface="Bahnschrift" panose="020B0502040204020203" pitchFamily="34" charset="0"/>
              </a:rPr>
              <a:t>(1 tipo regresión)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2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913" y="1570967"/>
            <a:ext cx="863217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1: PRUEBAS MANUALES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19F995-80CC-484E-A736-DF9C6BF55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4" y="2872153"/>
            <a:ext cx="6450186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Flujo Probado: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1.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Búsqueda productos "Christmas"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2.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Validación mensaje advertencia 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3.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Navegación por logo 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4.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Agregar al carrito 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5.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Eliminar del carrito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Bahnschrift" panose="020B0502040204020203" pitchFamily="34" charset="0"/>
              </a:rPr>
              <a:t>6.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Regresión: cambio moneda ✅</a:t>
            </a:r>
            <a:r>
              <a:rPr kumimoji="0" lang="es-CO" altLang="es-CO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9D212C-FA7D-433E-BF94-1BB9779D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8821" y="2872153"/>
            <a:ext cx="297180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Menlo"/>
              </a:rPr>
              <a:t>Métricas: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-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100% PASS en ejecución.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rgbClr val="F9FAFB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-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Evidencias documentadas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7CC442B-7E1D-4C41-9E3A-427810E63323}"/>
              </a:ext>
            </a:extLst>
          </p:cNvPr>
          <p:cNvCxnSpPr>
            <a:cxnSpLocks/>
          </p:cNvCxnSpPr>
          <p:nvPr/>
        </p:nvCxnSpPr>
        <p:spPr>
          <a:xfrm>
            <a:off x="7508631" y="2872153"/>
            <a:ext cx="0" cy="3247293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75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620" y="6212674"/>
            <a:ext cx="16847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CP-01 y 02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02CEF0-5224-4569-B7BA-11312F12E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970" y="1412349"/>
            <a:ext cx="8219550" cy="470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9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456" y="5935038"/>
            <a:ext cx="100508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CP-03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4F52BA-BDFE-475A-912D-761BFA6FE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7" y="2325430"/>
            <a:ext cx="11275662" cy="315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0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241" y="6045555"/>
            <a:ext cx="10195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CP-04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0AC167-7E53-4892-A0AF-3F825493F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274" y="1694921"/>
            <a:ext cx="9813445" cy="409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3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241" y="6045555"/>
            <a:ext cx="101149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CP-05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3427D5-5E92-4ADC-A3CE-0707DDC83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32" y="2208986"/>
            <a:ext cx="11211135" cy="310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78" y="6036466"/>
            <a:ext cx="31066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CP-06-REGRESION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4863E7-2E86-4514-B2EA-49F387876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" y="1919077"/>
            <a:ext cx="11401250" cy="38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4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04" y="1497278"/>
            <a:ext cx="1058817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1: PRUEBAS MANUALES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038CF85-CDE8-4685-8671-7E73EA87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06" y="2336630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CONCLUSIÓN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A8569C-51E6-484A-A2D1-97F46ECD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088" y="3532593"/>
            <a:ext cx="9709807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Se diseñaron y ejecutaron 6 casos de prueba manuales que validaron exitosamente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el flujo completo de e-</a:t>
            </a:r>
            <a:r>
              <a:rPr kumimoji="0" lang="es-ES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commerce</a:t>
            </a:r>
            <a:r>
              <a:rPr kumimoji="0" lang="es-ES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en </a:t>
            </a:r>
            <a:r>
              <a:rPr kumimoji="0" lang="es-ES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SockShop</a:t>
            </a:r>
            <a:r>
              <a:rPr kumimoji="0" lang="es-ES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. Todos los casos obtuvieron resultado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PASS.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8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161" y="1497278"/>
            <a:ext cx="102896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2: PRUEBAS AUTOMATIZADAS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793" y="2804207"/>
            <a:ext cx="614569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Objetivo: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Demostrar habilidades en testing automatizado mediante el uso de herramientas que lo permitan, incluyendo como mínimo 5 acciones automatizadas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903349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0023" y="2687629"/>
            <a:ext cx="443718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Alcance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: 3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casos de prueba del mismo flujo automatizados mediante CYPRESS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2800" dirty="0">
              <a:solidFill>
                <a:srgbClr val="F9FAFB"/>
              </a:solidFill>
              <a:latin typeface="Bahnschrif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- +5 acciones automatizadas (+5 localizadores)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20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5465" y="3429000"/>
            <a:ext cx="316208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Código – Automatización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CP - 01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23EF063-8528-424B-BAAE-29F0AA270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90" y="1397236"/>
            <a:ext cx="824027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52896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Panel de </a:t>
            </a:r>
            <a:r>
              <a:rPr lang="es-CO" altLang="es-CO" sz="2400" dirty="0" err="1">
                <a:solidFill>
                  <a:srgbClr val="F9FAFB"/>
                </a:solidFill>
                <a:latin typeface="Bahnschrift" panose="020B0502040204020203" pitchFamily="34" charset="0"/>
              </a:rPr>
              <a:t>Cypress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 con el </a:t>
            </a:r>
            <a:r>
              <a:rPr lang="es-CO" altLang="es-CO" sz="2400" dirty="0" err="1">
                <a:solidFill>
                  <a:srgbClr val="F9FAFB"/>
                </a:solidFill>
                <a:latin typeface="Bahnschrift" panose="020B0502040204020203" pitchFamily="34" charset="0"/>
              </a:rPr>
              <a:t>spec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 listo para ejecutar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DFB135-2E4C-4209-8BC0-5421BC20B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156" y="1497278"/>
            <a:ext cx="9535685" cy="447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74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52896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 err="1">
                <a:solidFill>
                  <a:srgbClr val="F9FAFB"/>
                </a:solidFill>
                <a:latin typeface="Bahnschrift" panose="020B0502040204020203" pitchFamily="34" charset="0"/>
              </a:rPr>
              <a:t>Cypress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 en plena ejecución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E6055F-F5E5-47C9-A235-787A9892E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690" y="1497278"/>
            <a:ext cx="9347201" cy="442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3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577" y="3081932"/>
            <a:ext cx="35813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3200" dirty="0">
                <a:solidFill>
                  <a:srgbClr val="F9FAFB"/>
                </a:solidFill>
                <a:latin typeface="Bahnschrift" panose="020B0502040204020203" pitchFamily="34" charset="0"/>
              </a:rPr>
              <a:t>Panel de éxito en las tres automatizaciones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159DE0-D743-44B2-BA0B-5FB528712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86" y="1513149"/>
            <a:ext cx="3744460" cy="486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51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286" y="1422119"/>
            <a:ext cx="1058817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2: PRUEBAS AUTOMATIZADAS</a:t>
            </a:r>
            <a:endParaRPr kumimoji="0" lang="es-CO" altLang="es-CO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038CF85-CDE8-4685-8671-7E73EA87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06" y="2336630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CONCLUSIÓN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A8569C-51E6-484A-A2D1-97F46ECD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296" y="3582351"/>
            <a:ext cx="8865395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Se automatizaron los 3 flujos iniciales utilizando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Cypress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implementando más de 10 localizadores diferentes y manejo de elementos dinámicos, demostrando conocimientos a la hora de realizar pruebas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end-to-end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.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753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3" y="1553928"/>
            <a:ext cx="102656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3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3: PRUEBAS DE CARGA, ESTRÉS Y MONITOREO</a:t>
            </a:r>
            <a:endParaRPr kumimoji="0" lang="es-CO" altLang="es-CO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3" y="2933850"/>
            <a:ext cx="550120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Objetivo: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Dejar en evidencia conocimientos acerca de la ejecución de pruebas de carga y estrés, usando herramientas para monitorear métricas clave. 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464388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115" y="2903075"/>
            <a:ext cx="4877092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Alcance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: Métricas clave obtenidas tras la ejecución de los scripts de las pruebas.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2800" dirty="0">
              <a:solidFill>
                <a:srgbClr val="F9FAFB"/>
              </a:solidFill>
              <a:latin typeface="Bahnschrif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- Visualización de métricas en Grafana usando un entorno local.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0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3" y="1553928"/>
            <a:ext cx="102656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3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3: PRUEBAS DE CARGA, ESTRÉS Y MONITOREO</a:t>
            </a:r>
            <a:endParaRPr kumimoji="0" lang="es-CO" altLang="es-CO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446" y="2527276"/>
            <a:ext cx="10503103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⚠️ Advertencia: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Debido a que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SockShop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es una aplicación productiva real, tomé la decisión de realizar mis pruebas de carga y estrés en base a otra aplicación web de tipo API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Rest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Fake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llamada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JsonPlaceHolder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rompiendo inevitablemente el flujo de las partes anteriores, pero procurando cumplir de igual forma con el objetivo de la parte 3 del reto técnico.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Se hizo una prueba de carga conservadora (5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Vus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) con la página real para complementar el ejercicio.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9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3" y="1553928"/>
            <a:ext cx="102656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3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3: PRUEBAS DE CARGA, ESTRÉS Y MONITOREO</a:t>
            </a:r>
            <a:endParaRPr kumimoji="0" lang="es-CO" altLang="es-CO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464388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5930EFF-7391-4451-A658-5E42692C4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416" y="2490165"/>
            <a:ext cx="4668885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📊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Bahnschrift" panose="020B0502040204020203" pitchFamily="34" charset="0"/>
              </a:rPr>
              <a:t>Métricas Principales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- 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Tiempo respuesta✅ 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- Tasa de errores: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-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Throughput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 / 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operaciones/segundo ✅  -Verificaciones exitosas ✅</a:t>
            </a:r>
            <a:r>
              <a:rPr kumimoji="0" lang="es-CO" altLang="es-CO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0CE591-869B-4AB2-9DA3-85E97D505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63" y="2749527"/>
            <a:ext cx="5727611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🔧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Menlo"/>
              </a:rPr>
              <a:t>Stack Implementado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800" b="1" i="0" u="none" strike="noStrike" cap="none" normalizeH="0" baseline="0" dirty="0">
              <a:ln>
                <a:noFill/>
              </a:ln>
              <a:solidFill>
                <a:srgbClr val="A6534E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Menlo"/>
              </a:rPr>
              <a:t>- 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k6:  Herramienta de pruebas de carga - Prometheus: Recolección de métricas – Grafana: Visualización en dashboards - Docker: Contenerización de servicios</a:t>
            </a:r>
            <a:r>
              <a:rPr kumimoji="0" lang="es-CO" altLang="es-CO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822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336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Resultados de la terminal – load-test-</a:t>
            </a:r>
            <a:r>
              <a:rPr kumimoji="0" lang="es-CO" altLang="es-CO" sz="24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jsonplaceholder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3F1ECA-8AE8-43F9-8055-5311E4AFD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57" y="1497278"/>
            <a:ext cx="8819789" cy="44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21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336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Resultados de la terminal –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stress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-test-</a:t>
            </a:r>
            <a:r>
              <a:rPr kumimoji="0" lang="es-CO" altLang="es-CO" sz="24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jsonplaceholder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4F5F5E-BAB0-4195-9A3B-3D4332EAB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27" y="1497278"/>
            <a:ext cx="9312274" cy="447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36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336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Login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– Grafana (corriendo en localhost:3001)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A4DEEC-5E0B-42AB-B746-6B07B33F1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75" y="1497278"/>
            <a:ext cx="8119624" cy="424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39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588" y="5750114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Prometheus conectado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2BAB5A-4A83-49EC-89BF-597A11B23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38" y="1943327"/>
            <a:ext cx="10495722" cy="337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65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336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Configuración de Grafana con Prometheus exitosa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083B18-C132-4086-91D5-20C0B9429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26" y="1575327"/>
            <a:ext cx="7241043" cy="43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84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092" y="6119446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Métricas representadas en Grafana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75CD69-2E70-42CB-9E4A-3A471C279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56" y="1497278"/>
            <a:ext cx="8419088" cy="436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47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286" y="1545228"/>
            <a:ext cx="1058817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3: PRUEBAS DE CARGA, ESTRÉS Y MONITOREO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211" y="3164019"/>
            <a:ext cx="1011956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Mediante K6 se validó la escalabilidad del sistema, alcanzando 500 usuarios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concurrentes con tasa de error menor al 5%. Las métricas de </a:t>
            </a:r>
            <a:r>
              <a:rPr kumimoji="0" lang="es-ES" altLang="es-CO" sz="2800" b="1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throughput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(125 </a:t>
            </a:r>
            <a:r>
              <a:rPr kumimoji="0" lang="es-ES" altLang="es-CO" sz="2800" b="1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req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/</a:t>
            </a:r>
            <a:r>
              <a:rPr kumimoji="0" lang="es-ES" altLang="es-CO" sz="2800" b="1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seg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y tiempos de respuesta (&lt;2s) confirman competencia en pruebas de rendimiento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y análisis de capacidad de sistemas.</a:t>
            </a:r>
            <a:endParaRPr kumimoji="0" lang="es-CO" altLang="es-CO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038CF85-CDE8-4685-8671-7E73EA87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06" y="2187309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432343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830" y="1559735"/>
            <a:ext cx="1058817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4: PRUEBAS DE 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MICROSERVICIO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FRONTEND Y BACKEND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457" y="2441408"/>
            <a:ext cx="550120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Objetivo: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Realizar pruebas de microservicios, validando la comunicación entre ellos, manejando errores y tiempos de respuesta, de la mano con la ejecución de pruebas de integración,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frontend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entre otras. 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464388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115" y="2687633"/>
            <a:ext cx="487709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Alcance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: Correcta ejecución de las pruebas con microservicios, funcionalidades </a:t>
            </a:r>
            <a:r>
              <a:rPr lang="es-CO" altLang="es-CO" sz="2800" dirty="0" err="1">
                <a:solidFill>
                  <a:srgbClr val="F9FAFB"/>
                </a:solidFill>
                <a:latin typeface="Bahnschrift" panose="020B0502040204020203" pitchFamily="34" charset="0"/>
              </a:rPr>
              <a:t>backend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 y </a:t>
            </a:r>
            <a:r>
              <a:rPr lang="es-CO" altLang="es-CO" sz="2800" dirty="0" err="1">
                <a:solidFill>
                  <a:srgbClr val="F9FAFB"/>
                </a:solidFill>
                <a:latin typeface="Bahnschrift" panose="020B0502040204020203" pitchFamily="34" charset="0"/>
              </a:rPr>
              <a:t>frontend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Evidencias claras del funcionamiento.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32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830" y="1559735"/>
            <a:ext cx="1058817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4: PRUEBAS DE 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MICROSERVICIO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FRONTEND Y BACKEND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66" y="2630159"/>
            <a:ext cx="570071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1. Pruebas sobre microservicios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Arquitectura distribuida validada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2. Comunicación entre servicios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Flujos integrados probados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3. Manejo de errores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404, 500,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timeouts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manejados correctamente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4. Tiempos de respuesta -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SLAs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bajo 2 segundos cumplidos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5. Pruebas de integración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backend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Lógica de negocio y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APIs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validadas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6. Pruebas de carga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Comportamiento bajo 50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VUs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analizado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7. Pruebas de estrés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Resiliencia del sistema demostrada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8. Pruebas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frontend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Interfaz y experiencia de usuario validadas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9. </a:t>
            </a:r>
            <a:r>
              <a:rPr kumimoji="0" lang="es-ES" altLang="es-CO" sz="1600" b="1" i="0" u="none" strike="noStrike" cap="none" normalizeH="0" baseline="0" dirty="0" err="1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Lighthouse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 - </a:t>
            </a:r>
            <a:r>
              <a:rPr kumimoji="0" lang="es-ES" altLang="es-CO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Calidad web evaluada (rendimiento, accesibilidad, mejores prácticas)</a:t>
            </a:r>
            <a:endParaRPr kumimoji="0" lang="es-CO" altLang="es-CO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464388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006" y="2141803"/>
            <a:ext cx="4877092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sz="2800" b="1" dirty="0">
                <a:solidFill>
                  <a:srgbClr val="F9FAFB"/>
                </a:solidFill>
                <a:effectLst/>
                <a:latin typeface="quote-cjk-patch"/>
              </a:rPr>
              <a:t>📈 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Evidencia: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altLang="es-CO" sz="2800" b="1" i="0" u="none" strike="noStrike" cap="none" normalizeH="0" baseline="0" dirty="0">
              <a:ln>
                <a:noFill/>
              </a:ln>
              <a:solidFill>
                <a:srgbClr val="CD6660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- 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Scripts de prueba ejecutados exitosamente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Bahnschrift" panose="020B0502040204020203" pitchFamily="34" charset="0"/>
              </a:rPr>
              <a:t>-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Métricas de rendimiento documentadas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Bahnschrift" panose="020B0502040204020203" pitchFamily="34" charset="0"/>
              </a:rPr>
              <a:t>-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Comportamiento bajo carga analizado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rgbClr val="A6534E"/>
                </a:solidFill>
                <a:effectLst/>
                <a:latin typeface="Bahnschrift" panose="020B0502040204020203" pitchFamily="34" charset="0"/>
              </a:rPr>
              <a:t>-</a:t>
            </a:r>
            <a:r>
              <a:rPr kumimoji="0" lang="es-ES" altLang="es-CO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Resultados consistentes y repetibles</a:t>
            </a:r>
            <a:r>
              <a:rPr lang="es-CO" altLang="es-CO" sz="28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5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861" y="6196282"/>
            <a:ext cx="8592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Script principal (evidencia la configuración para las pruebas)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891A79-5C38-4E1F-898A-CE66AF7C5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479" y="1458659"/>
            <a:ext cx="8302132" cy="450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81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861" y="6187055"/>
            <a:ext cx="8592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Simulación de servicios (Hubo problemas con los reales)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983CAF-AEF6-483D-8AFE-BE96F5409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479" y="1427704"/>
            <a:ext cx="7033393" cy="45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9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861" y="6002389"/>
            <a:ext cx="85922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Resultados (Mostrando tiempos de respuesta, comunicación entre servicios, </a:t>
            </a:r>
            <a:r>
              <a:rPr lang="es-CO" altLang="es-CO" sz="2400" dirty="0" err="1">
                <a:solidFill>
                  <a:srgbClr val="F9FAFB"/>
                </a:solidFill>
                <a:latin typeface="Bahnschrift" panose="020B0502040204020203" pitchFamily="34" charset="0"/>
              </a:rPr>
              <a:t>etc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)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4FA47A-397A-440A-9C52-33C45F46D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536" y="1497278"/>
            <a:ext cx="6298446" cy="425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85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861" y="6002389"/>
            <a:ext cx="85922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Resultados (Prueba </a:t>
            </a:r>
            <a:r>
              <a:rPr lang="es-CO" altLang="es-CO" sz="2400" dirty="0" err="1">
                <a:solidFill>
                  <a:srgbClr val="F9FAFB"/>
                </a:solidFill>
                <a:latin typeface="Bahnschrift" panose="020B0502040204020203" pitchFamily="34" charset="0"/>
              </a:rPr>
              <a:t>FrontEnd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, con ciertos problemas en el tiempo de carga)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086256-259B-4F17-BFE3-E616FCE7C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436" y="1468121"/>
            <a:ext cx="7479124" cy="426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87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245" y="5950061"/>
            <a:ext cx="85922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Resultados script lighthouse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FCD913-FC98-46D0-9D05-F22F6E2A8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566" y="1497278"/>
            <a:ext cx="6028868" cy="414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42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10" y="1558833"/>
            <a:ext cx="1058817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4: PRUEBAS DE 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MICROSERVICIO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FRONTEND Y BACKEND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211" y="3375486"/>
            <a:ext cx="1011956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</a:t>
            </a:r>
            <a:r>
              <a:rPr kumimoji="0" lang="es-ES" altLang="es-CO" sz="32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Se probó arquitectura distribuida validando comunicación entre servicios,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32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manejo de errores y tiempos de respuesta. También se empleó </a:t>
            </a:r>
            <a:r>
              <a:rPr lang="es-ES" altLang="es-CO" sz="3200" b="1" dirty="0" err="1">
                <a:solidFill>
                  <a:srgbClr val="F9FAFB"/>
                </a:solidFill>
                <a:latin typeface="Bahnschrift" panose="020B0502040204020203" pitchFamily="34" charset="0"/>
              </a:rPr>
              <a:t>l</a:t>
            </a:r>
            <a:r>
              <a:rPr kumimoji="0" lang="es-ES" altLang="es-CO" sz="3200" b="1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ighthouse</a:t>
            </a:r>
            <a:r>
              <a:rPr kumimoji="0" lang="es-ES" altLang="es-CO" sz="32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para realizar reportes </a:t>
            </a:r>
            <a:r>
              <a:rPr kumimoji="0" lang="es-ES" altLang="es-CO" sz="3200" b="1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FrontEnd</a:t>
            </a:r>
            <a:r>
              <a:rPr kumimoji="0" lang="es-ES" altLang="es-CO" sz="32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de manera exitosa.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038CF85-CDE8-4685-8671-7E73EA87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08" y="2182743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2861481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10" y="1497278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5: PRUEBAS DE </a:t>
            </a:r>
            <a:r>
              <a:rPr lang="es-CO" altLang="es-CO" sz="3600" dirty="0">
                <a:solidFill>
                  <a:srgbClr val="F9FAFB"/>
                </a:solidFill>
                <a:latin typeface="Bahnschrift" panose="020B0502040204020203" pitchFamily="34" charset="0"/>
              </a:rPr>
              <a:t>API CON POSTMAN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457" y="2687631"/>
            <a:ext cx="550120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Objetivo: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s-CO" altLang="es-CO" sz="3200" dirty="0">
                <a:solidFill>
                  <a:srgbClr val="F9FAFB"/>
                </a:solidFill>
                <a:latin typeface="Bahnschrift" panose="020B0502040204020203" pitchFamily="34" charset="0"/>
              </a:rPr>
              <a:t>Demostrar conocimientos a la hora de validar métodos HTTP, identificar códigos de estado y realizar pruebas sobre </a:t>
            </a:r>
            <a:r>
              <a:rPr lang="es-CO" altLang="es-CO" sz="3200" dirty="0" err="1">
                <a:solidFill>
                  <a:srgbClr val="F9FAFB"/>
                </a:solidFill>
                <a:latin typeface="Bahnschrift" panose="020B0502040204020203" pitchFamily="34" charset="0"/>
              </a:rPr>
              <a:t>endpoints</a:t>
            </a:r>
            <a:r>
              <a:rPr lang="es-CO" altLang="es-CO" sz="3200" dirty="0">
                <a:solidFill>
                  <a:srgbClr val="F9FAFB"/>
                </a:solidFill>
                <a:latin typeface="Bahnschrift" panose="020B0502040204020203" pitchFamily="34" charset="0"/>
              </a:rPr>
              <a:t> REST del </a:t>
            </a:r>
            <a:r>
              <a:rPr lang="es-CO" altLang="es-CO" sz="3200" dirty="0" err="1">
                <a:solidFill>
                  <a:srgbClr val="F9FAFB"/>
                </a:solidFill>
                <a:latin typeface="Bahnschrift" panose="020B0502040204020203" pitchFamily="34" charset="0"/>
              </a:rPr>
              <a:t>backend</a:t>
            </a:r>
            <a:r>
              <a:rPr lang="es-CO" altLang="es-CO" sz="3200" dirty="0">
                <a:solidFill>
                  <a:srgbClr val="F9FAFB"/>
                </a:solidFill>
                <a:latin typeface="Bahnschrift" panose="020B0502040204020203" pitchFamily="34" charset="0"/>
              </a:rPr>
              <a:t> usando </a:t>
            </a:r>
            <a:r>
              <a:rPr lang="es-CO" altLang="es-CO" sz="3200" dirty="0" err="1">
                <a:solidFill>
                  <a:srgbClr val="F9FAFB"/>
                </a:solidFill>
                <a:latin typeface="Bahnschrift" panose="020B0502040204020203" pitchFamily="34" charset="0"/>
              </a:rPr>
              <a:t>Postman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A6F767A-8B38-4D04-A3F6-CBD854F3E0CD}"/>
              </a:ext>
            </a:extLst>
          </p:cNvPr>
          <p:cNvCxnSpPr>
            <a:cxnSpLocks/>
          </p:cNvCxnSpPr>
          <p:nvPr/>
        </p:nvCxnSpPr>
        <p:spPr>
          <a:xfrm>
            <a:off x="6464388" y="2598003"/>
            <a:ext cx="0" cy="3782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5AB2943C-C00F-47CC-BCE3-A341F80E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915" y="2379005"/>
            <a:ext cx="487709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Alcance</a:t>
            </a:r>
            <a:r>
              <a:rPr lang="es-CO" altLang="es-CO" sz="2800" dirty="0">
                <a:solidFill>
                  <a:srgbClr val="F9FAFB"/>
                </a:solidFill>
                <a:latin typeface="Bahnschrift" panose="020B0502040204020203" pitchFamily="34" charset="0"/>
              </a:rPr>
              <a:t>: Validación de múltiples códigos de estados y pruebas sobre </a:t>
            </a:r>
            <a:r>
              <a:rPr lang="es-CO" altLang="es-CO" sz="2800" dirty="0" err="1">
                <a:solidFill>
                  <a:srgbClr val="F9FAFB"/>
                </a:solidFill>
                <a:latin typeface="Bahnschrift" panose="020B0502040204020203" pitchFamily="34" charset="0"/>
              </a:rPr>
              <a:t>endpoints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140B58-4494-4304-A573-B46FAD587486}"/>
              </a:ext>
            </a:extLst>
          </p:cNvPr>
          <p:cNvSpPr txBox="1"/>
          <p:nvPr/>
        </p:nvSpPr>
        <p:spPr>
          <a:xfrm>
            <a:off x="6720115" y="4162694"/>
            <a:ext cx="5234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📋 Advertencia</a:t>
            </a:r>
            <a:r>
              <a:rPr lang="es-CO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: 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Se realizaron pruebas exhaustivas sobre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endpoints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 REST utilizando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Postman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. Inicialmente se investigaron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endpoints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 de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SockShop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, pero al no encontrar API pública, se utilizó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JSONPlaceholder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 para demostrar las competencias técnicas en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testing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 de </a:t>
            </a:r>
            <a:r>
              <a:rPr lang="es-ES" altLang="es-CO" sz="1600" dirty="0" err="1">
                <a:solidFill>
                  <a:srgbClr val="F9FAFB"/>
                </a:solidFill>
                <a:latin typeface="Bahnschrift" panose="020B0502040204020203" pitchFamily="34" charset="0"/>
              </a:rPr>
              <a:t>APIs</a:t>
            </a:r>
            <a:r>
              <a:rPr lang="es-ES" altLang="es-CO" sz="1600" dirty="0">
                <a:solidFill>
                  <a:srgbClr val="F9FAFB"/>
                </a:solidFill>
                <a:latin typeface="Bahnschrift" panose="020B0502040204020203" pitchFamily="34" charset="0"/>
              </a:rPr>
              <a:t> REST, validando todos los métodos HTTP requeridos.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477146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092" y="6119446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201, POST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571B1A-1F75-42E5-BA4C-42DBAB333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798" y="1571358"/>
            <a:ext cx="7640918" cy="427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65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309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404, GET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7E56EA7-6570-42C8-93EF-357018993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479" y="1497278"/>
            <a:ext cx="8119624" cy="44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90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29468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200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PUT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2A9E9B-6D37-47A8-B1EA-75EFD1E1E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850" y="1497278"/>
            <a:ext cx="7364298" cy="44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64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65937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200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DELETE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A9DD3F-8F33-4BA2-86FE-ECE78D3279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772" y="1691081"/>
            <a:ext cx="7292455" cy="423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60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500,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POST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5CBA00-4F3E-4A91-A7C6-A9039D004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768" y="1497278"/>
            <a:ext cx="6845046" cy="450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31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</a:t>
            </a:r>
            <a:r>
              <a:rPr lang="es-CO" altLang="es-CO" sz="2400" dirty="0">
                <a:solidFill>
                  <a:srgbClr val="F9FAFB"/>
                </a:solidFill>
                <a:latin typeface="Bahnschrift" panose="020B0502040204020203" pitchFamily="34" charset="0"/>
              </a:rPr>
              <a:t>200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, DELETE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78A9B6-96A4-49BF-B0DC-B3E14A7D2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610" y="1723475"/>
            <a:ext cx="7390779" cy="42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81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6196282"/>
            <a:ext cx="811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Status: 404, POST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6A0D5B-DEE4-4800-BABF-E68971C9B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886" y="1497278"/>
            <a:ext cx="6730809" cy="44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24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07F8F3-EFA7-40C1-8E08-CB213C721407}"/>
              </a:ext>
            </a:extLst>
          </p:cNvPr>
          <p:cNvSpPr/>
          <p:nvPr/>
        </p:nvSpPr>
        <p:spPr>
          <a:xfrm>
            <a:off x="0" y="-1"/>
            <a:ext cx="12192000" cy="1223889"/>
          </a:xfrm>
          <a:prstGeom prst="rect">
            <a:avLst/>
          </a:prstGeom>
          <a:solidFill>
            <a:srgbClr val="F9E918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6" name="Picture 2" descr="Lite Thinking | LinkedIn">
            <a:extLst>
              <a:ext uri="{FF2B5EF4-FFF2-40B4-BE49-F238E27FC236}">
                <a16:creationId xmlns:a16="http://schemas.microsoft.com/office/drawing/2014/main" id="{6AA7E792-EBE3-49A4-B4AE-1C45AAE9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2" y="145072"/>
            <a:ext cx="933744" cy="9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 Thinking - We foster innovation for a better digital world">
            <a:extLst>
              <a:ext uri="{FF2B5EF4-FFF2-40B4-BE49-F238E27FC236}">
                <a16:creationId xmlns:a16="http://schemas.microsoft.com/office/drawing/2014/main" id="{7F0FB047-E968-49B0-A551-9DC9B437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890" y="6119446"/>
            <a:ext cx="940234" cy="5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948904-8229-4434-B440-4579113C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479" y="273389"/>
            <a:ext cx="8121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🏆 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RETO TÉCNICO - TESTER QA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B61AA-C2B3-4EAD-9838-1B2EF6A8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3961"/>
            <a:ext cx="3206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00574EB-16CC-4A89-A309-4AC189BC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10" y="1497278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PARTE 5: PRUEBAS DE </a:t>
            </a:r>
            <a:r>
              <a:rPr lang="es-CO" altLang="es-CO" sz="3600" dirty="0">
                <a:solidFill>
                  <a:srgbClr val="F9FAFB"/>
                </a:solidFill>
                <a:latin typeface="Bahnschrift" panose="020B0502040204020203" pitchFamily="34" charset="0"/>
              </a:rPr>
              <a:t>API CON POSTMAN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62FDC-CE6A-4D79-84A7-8E8771A0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213" y="3370646"/>
            <a:ext cx="1011956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CD6660"/>
                </a:solidFill>
                <a:effectLst/>
                <a:latin typeface="Bahnschrift" panose="020B0502040204020203" pitchFamily="34" charset="0"/>
              </a:rPr>
              <a:t>🎯 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Durante la solución de la Parte 5 del </a:t>
            </a:r>
            <a:r>
              <a:rPr lang="es-CO" altLang="es-CO" sz="3200" b="1" dirty="0">
                <a:solidFill>
                  <a:srgbClr val="F9FAFB"/>
                </a:solidFill>
                <a:latin typeface="Bahnschrift" panose="020B0502040204020203" pitchFamily="34" charset="0"/>
              </a:rPr>
              <a:t>test se validaron 4 métodos HTTP y 4 códigos de estado diferentes, rompiendo el flujo de </a:t>
            </a:r>
            <a:r>
              <a:rPr lang="es-CO" altLang="es-CO" sz="3200" b="1" dirty="0" err="1">
                <a:solidFill>
                  <a:srgbClr val="F9FAFB"/>
                </a:solidFill>
                <a:latin typeface="Bahnschrift" panose="020B0502040204020203" pitchFamily="34" charset="0"/>
              </a:rPr>
              <a:t>Sockshop</a:t>
            </a:r>
            <a:r>
              <a:rPr lang="es-CO" altLang="es-CO" sz="3200" b="1" dirty="0">
                <a:solidFill>
                  <a:srgbClr val="F9FAFB"/>
                </a:solidFill>
                <a:latin typeface="Bahnschrift" panose="020B0502040204020203" pitchFamily="34" charset="0"/>
              </a:rPr>
              <a:t> debido a que no se encontró API publica, usando así, en cambio, </a:t>
            </a:r>
            <a:r>
              <a:rPr lang="es-CO" altLang="es-CO" sz="3200" b="1" dirty="0" err="1">
                <a:solidFill>
                  <a:srgbClr val="F9FAFB"/>
                </a:solidFill>
                <a:latin typeface="Bahnschrift" panose="020B0502040204020203" pitchFamily="34" charset="0"/>
              </a:rPr>
              <a:t>JsonPlaceHolder</a:t>
            </a:r>
            <a:r>
              <a:rPr lang="es-CO" altLang="es-CO" sz="3200" b="1" dirty="0">
                <a:solidFill>
                  <a:srgbClr val="F9FAFB"/>
                </a:solidFill>
                <a:latin typeface="Bahnschrift" panose="020B0502040204020203" pitchFamily="34" charset="0"/>
              </a:rPr>
              <a:t> para completar el ejercicio.</a:t>
            </a:r>
            <a:endParaRPr kumimoji="0" lang="es-CO" altLang="es-CO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038CF85-CDE8-4685-8671-7E73EA87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10" y="2187583"/>
            <a:ext cx="105881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32585951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1350</Words>
  <Application>Microsoft Office PowerPoint</Application>
  <PresentationFormat>Panorámica</PresentationFormat>
  <Paragraphs>197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9" baseType="lpstr">
      <vt:lpstr>Arial</vt:lpstr>
      <vt:lpstr>Bahnschrift</vt:lpstr>
      <vt:lpstr>Calibri</vt:lpstr>
      <vt:lpstr>Calibri Light</vt:lpstr>
      <vt:lpstr>Menlo</vt:lpstr>
      <vt:lpstr>quote-cjk-patch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Sergio Guevara</dc:creator>
  <cp:lastModifiedBy>Sergio Guevara</cp:lastModifiedBy>
  <cp:revision>23</cp:revision>
  <dcterms:created xsi:type="dcterms:W3CDTF">2025-11-20T08:16:05Z</dcterms:created>
  <dcterms:modified xsi:type="dcterms:W3CDTF">2025-11-20T12:02:01Z</dcterms:modified>
</cp:coreProperties>
</file>